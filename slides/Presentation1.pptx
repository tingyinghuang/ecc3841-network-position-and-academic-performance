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2004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74519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ECC3841 NETWORK ECONOMICS  ·  PRESENTATION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9180F"/>
                </a:solidFill>
                <a:latin typeface="Georgia"/>
              </a:rPr>
              <a:t>Network Position and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9180F"/>
                </a:solidFill>
                <a:latin typeface="Georgia"/>
              </a:rPr>
              <a:t>Academic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55503F"/>
                </a:solidFill>
                <a:latin typeface="Calibri"/>
              </a:rPr>
              <a:t>Does where you sit in a friendship network predict your grades,</a:t>
            </a:r>
          </a:p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55503F"/>
                </a:solidFill>
                <a:latin typeface="Calibri"/>
              </a:rPr>
              <a:t>beyond who your direct friends are?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5503F"/>
                </a:solidFill>
                <a:latin typeface="Calibri"/>
              </a:rPr>
              <a:t>Team [names]  ·  [Date]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THE PUZZLE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Two students. Same-looking friend groups. Same grades?</a:t>
            </a:r>
          </a:p>
        </p:txBody>
      </p:sp>
      <p:pic>
        <p:nvPicPr>
          <p:cNvPr id="5" name="Picture 4" descr="studen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600200"/>
            <a:ext cx="8595360" cy="40177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669280"/>
            <a:ext cx="10881360" cy="868680"/>
          </a:xfrm>
          <a:prstGeom prst="roundRect">
            <a:avLst>
              <a:gd name="adj" fmla="val 12000"/>
            </a:avLst>
          </a:prstGeom>
          <a:solidFill>
            <a:srgbClr val="E9F0FA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100" b="1">
                <a:solidFill>
                  <a:srgbClr val="19180F"/>
                </a:solidFill>
                <a:latin typeface="Georgia"/>
              </a:rPr>
              <a:t>Does a student's position in a friendship network affect their grades?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WHAT WE ALREADY KNOW  ·  PRIOR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Smirnov &amp; Thurner (2017): the effect is mostly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5503F"/>
                </a:solidFill>
                <a:latin typeface="Calibri"/>
              </a:rPr>
              <a:t>A real, changing “who-likes-who” network of Russian students, matched to GPA.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Students pick friends</a:t>
            </a:r>
          </a:p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with similar GPA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Friend groups end up</a:t>
            </a:r>
          </a:p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GPA-similar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80" y="22860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GPA homophily</a:t>
            </a:r>
          </a:p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(what we observe)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23360" y="2766060"/>
            <a:ext cx="457200" cy="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26680" y="2766060"/>
            <a:ext cx="457200" cy="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36118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Their measure is one number per student — the average GPA of their direct friends.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EB6834"/>
                </a:solidFill>
                <a:latin typeface="Calibri"/>
              </a:rPr>
              <a:t>→  It never asks where that student sits in the wider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Two students with the same direct friends score the same — however different those friends' own social worlds 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A model of peer effects in study effort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03F"/>
                </a:solidFill>
                <a:latin typeface="Calibri"/>
              </a:rPr>
              <a:t>Ballester, Calvó-Armengol &amp; Zenou (2006)  ·  Calvó-Armengol, Patacchini &amp; Zenou (2009; IZA DP 3859)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2148840"/>
            <a:ext cx="9784080" cy="13716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pic>
        <p:nvPicPr>
          <p:cNvPr id="7" name="Picture 6" descr="eq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527" y="2395728"/>
            <a:ext cx="7406640" cy="12146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180F"/>
                </a:solidFill>
                <a:latin typeface="Calibri"/>
              </a:rPr>
              <a:t>Each student i picks study effort xᵢ. Three parts: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600">
                <a:solidFill>
                  <a:srgbClr val="55503F"/>
                </a:solidFill>
                <a:latin typeface="Calibri"/>
              </a:rPr>
              <a:t>  •  a xᵢ  —  what you gain from effort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600">
                <a:solidFill>
                  <a:srgbClr val="55503F"/>
                </a:solidFill>
                <a:latin typeface="Calibri"/>
              </a:rPr>
              <a:t>  •  −½xᵢ²  —  its rising cost: studying alone has diminishing returns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600">
                <a:solidFill>
                  <a:srgbClr val="55503F"/>
                </a:solidFill>
                <a:latin typeface="Calibri"/>
              </a:rPr>
              <a:t>  •  φ Σⱼ gᵢⱼ xᵢ xⱼ  —  the social part: when a friend studies more, your own payoff from studying goes up  (φ &gt; 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9180F"/>
                </a:solidFill>
                <a:latin typeface="Georgia"/>
              </a:rPr>
              <a:t>Everyone best-responds → effort tracks one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5503F"/>
                </a:solidFill>
                <a:latin typeface="Calibri"/>
              </a:rPr>
              <a:t>Best response</a:t>
            </a:r>
          </a:p>
        </p:txBody>
      </p:sp>
      <p:pic>
        <p:nvPicPr>
          <p:cNvPr id="6" name="Picture 5" descr="eq_best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536192"/>
            <a:ext cx="3200400" cy="8411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69164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03F"/>
                </a:solidFill>
                <a:latin typeface="Calibri"/>
              </a:rPr>
              <a:t>study a baseline, plus more when your friends study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5503F"/>
                </a:solidFill>
                <a:latin typeface="Calibri"/>
              </a:rPr>
              <a:t>Solve for all students</a:t>
            </a:r>
          </a:p>
        </p:txBody>
      </p:sp>
      <p:pic>
        <p:nvPicPr>
          <p:cNvPr id="9" name="Picture 8" descr="eq_equilibr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542032"/>
            <a:ext cx="5120640" cy="797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3657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5503F"/>
                </a:solidFill>
                <a:latin typeface="Calibri"/>
              </a:rPr>
              <a:t>Valid while</a:t>
            </a:r>
          </a:p>
        </p:txBody>
      </p:sp>
      <p:pic>
        <p:nvPicPr>
          <p:cNvPr id="11" name="Picture 10" descr="eq_cond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3520440"/>
            <a:ext cx="1965960" cy="77439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2960" y="4434840"/>
            <a:ext cx="10515600" cy="1874519"/>
          </a:xfrm>
          <a:prstGeom prst="roundRect">
            <a:avLst>
              <a:gd name="adj" fmla="val 12000"/>
            </a:avLst>
          </a:prstGeom>
          <a:solidFill>
            <a:srgbClr val="E9F0FA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617720"/>
            <a:ext cx="99669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9180F"/>
                </a:solidFill>
                <a:latin typeface="Calibri"/>
              </a:rPr>
              <a:t>A sharp, falsifiable claim: achievement should track Katz-Bonacich centrality b(g,φ) — not raw popularity, not any other network measure. φ is the model's own parameter, and the one we vary in the data. In the original AddHealth study, a 1-SD rise in centrality raised school performance by about 7% of a SD.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THE KEY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φ is a dial — from popularity to reach</a:t>
            </a:r>
          </a:p>
        </p:txBody>
      </p:sp>
      <p:pic>
        <p:nvPicPr>
          <p:cNvPr id="5" name="Picture 4" descr="phi_d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417320"/>
            <a:ext cx="10881360" cy="39662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23560"/>
            <a:ext cx="10515600" cy="9144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0">
                <a:solidFill>
                  <a:srgbClr val="19180F"/>
                </a:solidFill>
                <a:latin typeface="Calibri"/>
              </a:rPr>
              <a:t>Turn φ up and the same formula stops asking “how many friends?” and starts asking “where in the network?” — we test GPA against the whole dial.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What we expect — and what would prove us wrong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27080" cy="420624"/>
          </a:xfrm>
          <a:prstGeom prst="roundRect">
            <a:avLst>
              <a:gd name="adj" fmla="val 12000"/>
            </a:avLst>
          </a:prstGeom>
          <a:solidFill>
            <a:srgbClr val="2A78D6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FROM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48256"/>
            <a:ext cx="10835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9180F"/>
                </a:solidFill>
                <a:latin typeface="Calibri"/>
              </a:rPr>
              <a:t>Katz-Bonacich centrality predicts next-term GPA — even after friend-group GPA and raw degree are controlled. Falsified if it loses significance once degree is in, or if it flips sign along the φ dial.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5503F"/>
                </a:solidFill>
                <a:latin typeface="Calibri"/>
              </a:rPr>
              <a:t>IF IT PREDICTS — WHICH DIRECTION?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66160"/>
            <a:ext cx="3502152" cy="9144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31363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9180F"/>
                </a:solidFill>
                <a:latin typeface="Georgia"/>
              </a:rPr>
              <a:t>β₁ &gt;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41648"/>
            <a:ext cx="31363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access to help lifts grades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566160"/>
            <a:ext cx="3502152" cy="9144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657600"/>
            <a:ext cx="31363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9180F"/>
                </a:solidFill>
                <a:latin typeface="Georgia"/>
              </a:rPr>
              <a:t>β₁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041648"/>
            <a:ext cx="31363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help and time-cost cancel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502152" cy="9144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657600"/>
            <a:ext cx="31363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9180F"/>
                </a:solidFill>
                <a:latin typeface="Georgia"/>
              </a:rPr>
              <a:t>β₁ &lt;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041648"/>
            <a:ext cx="31363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wide reach eats study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548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5503F"/>
                </a:solidFill>
                <a:latin typeface="Calibri"/>
              </a:rPr>
              <a:t>FROM REPLICATING SMIRNOV &amp; THURNER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A friend's past GPA won't predict a student's future GPA, once own past GPA is controlled.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New friendships show a smaller GPA gap than ending ones — a sign of selection.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Selection is stronger at university than in high school.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A real, directed friendship network — observed over time</a:t>
            </a:r>
          </a:p>
        </p:txBody>
      </p:sp>
      <p:pic>
        <p:nvPicPr>
          <p:cNvPr id="5" name="Picture 4" descr="real_network_sch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93516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69164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NODES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Students. 655 in high school; 1,200–1,549 per university year.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5212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Directed “like” ties. i → j means i liked j at least once in a 3-month window. 2–14 snapshots per group, 38 in total. Only 24–27% are mutual.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9180F"/>
                </a:solidFill>
                <a:latin typeface="Calibri"/>
              </a:rPr>
              <a:t>ATTRIBUTES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5212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GPA; in/out-degree, Katz-Bonacich, betweenness, eigenvector; school vs. university.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89320"/>
            <a:ext cx="10881360" cy="54864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0">
                <a:solidFill>
                  <a:srgbClr val="19180F"/>
                </a:solidFill>
                <a:latin typeface="Calibri"/>
              </a:rPr>
              <a:t>Same dataset as Smirnov &amp; Thurner — our results compare directly with theirs.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HOW WE'LL GO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Predict next-term GPA from position — holding the rest fixed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27080" cy="173736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pic>
        <p:nvPicPr>
          <p:cNvPr id="6" name="Picture 5" descr="eq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74519"/>
            <a:ext cx="10058400" cy="153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180F"/>
                </a:solidFill>
                <a:latin typeface="Calibri"/>
              </a:rPr>
              <a:t>Each control has a job: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0624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55503F"/>
                </a:solidFill>
                <a:latin typeface="Calibri"/>
              </a:rPr>
              <a:t>  •  β₃  average friend GPA  →  β₁ is net of friend-group composition (Smirnov &amp; Thurner's own variable)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55503F"/>
                </a:solidFill>
                <a:latin typeface="Calibri"/>
              </a:rPr>
              <a:t>  •  β₄, β₅  raw in / out-degree  →  β₁ is net of popularity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EB6834"/>
                </a:solidFill>
                <a:latin typeface="Calibri"/>
              </a:rPr>
              <a:t>The real question: does centrality carry anything beyond simply counting friends?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Which way does the arrow run?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55503F"/>
                </a:solidFill>
                <a:latin typeface="Calibri"/>
              </a:rPr>
              <a:t>Does position lift grades — or do good grades just attract friends? One snapshot can't tell. Our panel data help three ways:</a:t>
            </a:r>
          </a:p>
        </p:txBody>
      </p:sp>
      <p:pic>
        <p:nvPicPr>
          <p:cNvPr id="6" name="Picture 5" descr="timeline_snapsh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2148840"/>
            <a:ext cx="8229600" cy="21487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34340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>
                <a:solidFill>
                  <a:srgbClr val="19180F"/>
                </a:solidFill>
                <a:latin typeface="Calibri"/>
              </a:rPr>
              <a:t>  •  Time order — position is measured before the GPA it predicts.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>
                <a:solidFill>
                  <a:srgbClr val="19180F"/>
                </a:solidFill>
                <a:latin typeface="Calibri"/>
              </a:rPr>
              <a:t>  •  Past GPA controlled — we compare students at the same current grade.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>
                <a:solidFill>
                  <a:srgbClr val="19180F"/>
                </a:solidFill>
                <a:latin typeface="Calibri"/>
              </a:rPr>
              <a:t>  •  Reverse arrow measured directly — does a GPA rise bring new friends? (Smirnov &amp; Thurner's tie-formation check)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943600"/>
            <a:ext cx="10927080" cy="566928"/>
          </a:xfrm>
          <a:prstGeom prst="roundRect">
            <a:avLst>
              <a:gd name="adj" fmla="val 12000"/>
            </a:avLst>
          </a:prstGeom>
          <a:solidFill>
            <a:srgbClr val="E9F0FA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50" b="1">
                <a:solidFill>
                  <a:srgbClr val="19180F"/>
                </a:solidFill>
                <a:latin typeface="Calibri"/>
              </a:rPr>
              <a:t>So our claim is that position predicts later grades — not that it causes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OUR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Three layers of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319272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2862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B6834"/>
                </a:solidFill>
                <a:latin typeface="Calibri"/>
              </a:rPr>
              <a:t>LAYER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8620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Replicate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920240"/>
            <a:ext cx="3319272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066544"/>
            <a:ext cx="2862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B6834"/>
                </a:solidFill>
                <a:latin typeface="Calibri"/>
              </a:rPr>
              <a:t>LAYER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377440"/>
            <a:ext cx="28620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Test the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920240"/>
            <a:ext cx="3319272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1624" y="2066544"/>
            <a:ext cx="2862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B6834"/>
                </a:solidFill>
                <a:latin typeface="Calibri"/>
              </a:rPr>
              <a:t>LAYER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377440"/>
            <a:ext cx="28620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Compare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59352" y="2537460"/>
            <a:ext cx="457200" cy="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35824" y="2537460"/>
            <a:ext cx="457200" cy="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29000"/>
            <a:ext cx="331927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Rebuild Smirnov &amp; Thurner's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selection-vs-influence checks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on the same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3429000"/>
            <a:ext cx="331927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Compute Katz-Bonacich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centrality; test the prediction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across the φ dial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429000"/>
            <a:ext cx="331927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High school vs. university —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does the effect hold across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settings?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55503F"/>
                </a:solidFill>
                <a:latin typeface="Calibri"/>
              </a:rPr>
              <a:t>One headline test, at φ = 0.85 × (1/λmax), is fixed in advance — so later robustness checks can't be accused of cherry-picking.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989320"/>
            <a:ext cx="10927080" cy="54864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0">
                <a:solidFill>
                  <a:srgbClr val="19180F"/>
                </a:solidFill>
                <a:latin typeface="Calibri"/>
              </a:rPr>
              <a:t>Also grounded in: Calvó-Armengol, Patacchini &amp; Zenou (2009)  ·  Giulietti, Vlassopoulos &amp; Zenou (2020) on peer depression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19180F"/>
                </a:solidFill>
                <a:latin typeface="Georgia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Data — Smirnov &amp; Thurner (2017), Harvard Dataverse  doi:10.7910/DVN/SZA9YW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Model — Ballester, Calvó-Armengol &amp; Zenou (2006); Calvó-Armengol, Patacchini &amp; Zenou (2009)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Full detail — research_brief.pdf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