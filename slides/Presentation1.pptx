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3749039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55503F"/>
                </a:solidFill>
                <a:latin typeface="Calibri"/>
              </a:rPr>
              <a:t>Extending Smirnov &amp; Thurner (2017) with network centrality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Team [names] · [Date]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WHY THIS QUESTION  · 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The gap in Smirnov &amp; Thurner (2017)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55503F"/>
                </a:solidFill>
                <a:latin typeface="Calibri"/>
              </a:rPr>
              <a:t>Grades depend on more than effort — but how the social world around a student matters is still debated.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9180F"/>
                </a:solidFill>
                <a:latin typeface="Calibri"/>
              </a:rPr>
              <a:t>Friend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33172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9180F"/>
                </a:solidFill>
                <a:latin typeface="Calibri"/>
              </a:rPr>
              <a:t>Friend-group GPA
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0" y="233172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19180F"/>
                </a:solidFill>
                <a:latin typeface="Calibri"/>
              </a:rPr>
              <a:t>Observed homophily
in GPA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788920.0"/>
            <a:ext cx="502920" cy="0.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95160" y="2788920.0"/>
            <a:ext cx="502920" cy="0.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3520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A real, changing “who-likes-who” network of Russian students, matched to GPA.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Their method asks one question: who is this student connected to, and what is the average GPA of those specific people? It never asks where a student sits inside the wider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→ Two students with identical friends get an identical score, no matter how different those friends' own social worlds 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PUZZLE → OUR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Same friends, same average friend GPA — same outcome?</a:t>
            </a:r>
          </a:p>
        </p:txBody>
      </p:sp>
      <p:pic>
        <p:nvPicPr>
          <p:cNvPr id="5" name="Picture 4" descr="stude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554480"/>
            <a:ext cx="7772400" cy="3633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74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 i="0">
                <a:solidFill>
                  <a:srgbClr val="19180F"/>
                </a:solidFill>
                <a:latin typeface="Georgia"/>
              </a:rPr>
              <a:t>Does your position in a friendship network affect your grades?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Peer effects in effort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Calvó-Armengol, Patacchini &amp; Zenou (2009); Ballester, Calvó-Armengol &amp; Zenou (2006)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2331720"/>
            <a:ext cx="9326880" cy="141732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pic>
        <p:nvPicPr>
          <p:cNvPr id="7" name="Picture 6" descr="eq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7863840" cy="11793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80F"/>
                </a:solidFill>
                <a:latin typeface="Calibri"/>
              </a:rPr>
              <a:t>Each student i chooses effort zᵢ. Two peer channels: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Private return to effort is concave — diminishing returns to studying alone (the  −½zᵢ²  term).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μ scales the baseline value of simply having friends (μgᵢzᵢ); φ scales the strategic complementarity with friends' own effort (gᵢⱼ = 1 if i and j are linked).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Equilibrium effort = Katz-Bonacich centrality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5503F"/>
                </a:solidFill>
                <a:latin typeface="Calibri"/>
              </a:rPr>
              <a:t>Best response:</a:t>
            </a:r>
          </a:p>
        </p:txBody>
      </p:sp>
      <p:pic>
        <p:nvPicPr>
          <p:cNvPr id="6" name="Picture 5" descr="eq_f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554480"/>
            <a:ext cx="4023360" cy="1058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889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5503F"/>
                </a:solidFill>
                <a:latin typeface="Calibri"/>
              </a:rPr>
              <a:t>Nash equilibrium:</a:t>
            </a:r>
          </a:p>
        </p:txBody>
      </p:sp>
      <p:pic>
        <p:nvPicPr>
          <p:cNvPr id="8" name="Picture 7" descr="eq_equilibr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606040"/>
            <a:ext cx="5760720" cy="598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84048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5503F"/>
                </a:solidFill>
                <a:latin typeface="Calibri"/>
              </a:rPr>
              <a:t>Exists only if:</a:t>
            </a:r>
          </a:p>
        </p:txBody>
      </p:sp>
      <p:pic>
        <p:nvPicPr>
          <p:cNvPr id="10" name="Picture 9" descr="eq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3657600"/>
            <a:ext cx="2286000" cy="8568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" y="4663440"/>
            <a:ext cx="10515600" cy="1828800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46320"/>
            <a:ext cx="99669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9180F"/>
                </a:solidFill>
                <a:latin typeface="Calibri"/>
              </a:rPr>
              <a:t>The theory's prediction is precise: equilibrium effort (and so, achievement) should be proportional to Katz-Bonacich centrality b(g,φ) — not to raw popularity, not to any other network measure. φ is exactly the decay parameter we test empirically. In the original paper's own AddHealth test, a 1-SD rise in centrality raised school performance by 7% of a SD.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What the theory — and the replication — predict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515600" cy="457200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FROM THE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515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B6834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12848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9180F"/>
                </a:solidFill>
                <a:latin typeface="Calibri"/>
              </a:rPr>
              <a:t>Katz-Bonacich centrality predicts GPA — even after we control for friend-group composition. The theory's core, falsifiable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03F"/>
                </a:solidFill>
                <a:latin typeface="Calibri"/>
              </a:rPr>
              <a:t>FROM REPLICATING SMIRNOV &amp; THURNER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5120640" cy="11430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6732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5503F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67328"/>
            <a:ext cx="4206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9180F"/>
                </a:solidFill>
                <a:latin typeface="Calibri"/>
              </a:rPr>
              <a:t>A friend's past GPA will not predict a student's future GPA, once we control for their own past GPA.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57600"/>
            <a:ext cx="5120640" cy="11430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6732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5503F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767328"/>
            <a:ext cx="4206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9180F"/>
                </a:solidFill>
                <a:latin typeface="Calibri"/>
              </a:rPr>
              <a:t>New friendships will show a smaller GPA gap than dropped friendships — a sign of selection.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65192"/>
            <a:ext cx="5120640" cy="11430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5503F"/>
                </a:solidFill>
                <a:latin typeface="Georg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4206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9180F"/>
                </a:solidFill>
                <a:latin typeface="Calibri"/>
              </a:rPr>
              <a:t>The selection effect will be stronger in university than high school (more freedom to change circles).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965192"/>
            <a:ext cx="5120640" cy="11430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749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5503F"/>
                </a:solidFill>
                <a:latin typeface="Georg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074920"/>
            <a:ext cx="4206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9180F"/>
                </a:solidFill>
                <a:latin typeface="Calibri"/>
              </a:rPr>
              <a:t>The model-implied centrality effect may differ by setting — worth testing high school vs. university.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A real, directed friendship network</a:t>
            </a:r>
          </a:p>
        </p:txBody>
      </p:sp>
      <p:pic>
        <p:nvPicPr>
          <p:cNvPr id="5" name="Picture 4" descr="real_network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6783045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6916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Individual students — 655 high-school; 1,200–1,549 per university class-year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B6834"/>
                </a:solidFill>
                <a:latin typeface="Calibri"/>
              </a:rPr>
              <a:t>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Directed “like” ties, 2–14 snapshots per group (38 total). Only 24–27% go both ways.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9180F"/>
                </a:solidFill>
                <a:latin typeface="Calibri"/>
              </a:rPr>
              <a:t>ATTRIBUTES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GPA (outcome); in/out-degree, Katz-Bonacich, betweenness, eigenvector; high school vs. university.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55503F"/>
                </a:solidFill>
                <a:latin typeface="Calibri"/>
              </a:rPr>
              <a:t>485 students · 3,186 ties, one real snapshot — colour = GPA, size = popularity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OUR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9180F"/>
                </a:solidFill>
                <a:latin typeface="Georgia"/>
              </a:rPr>
              <a:t>Three layers of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200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LAYER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Replicate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11680"/>
            <a:ext cx="3200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2140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LAYER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9572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Test the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200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2140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LAYER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9572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Compare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0" y="2697480.0"/>
            <a:ext cx="502920" cy="0.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43800" y="2697480.0"/>
            <a:ext cx="502920" cy="0.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70332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Rebuild Smirnov &amp; Thurner's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selection-vs-influence checks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on the same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70332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Compute Katz-Bonacich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centrality; test the theory's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prediction against the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0332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Split high school vs.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university; test whether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03F"/>
                </a:solidFill>
                <a:latin typeface="Calibri"/>
              </a:rPr>
              <a:t>effect holds across settings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5503F"/>
                </a:solidFill>
                <a:latin typeface="Calibri"/>
              </a:rPr>
              <a:t>Deliberately conservative: we pre-register our main test before exploring further, so later robustness checks can't be accused of cherry-picking.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89320"/>
            <a:ext cx="10515600" cy="50292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0533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55503F"/>
                </a:solidFill>
                <a:latin typeface="Calibri"/>
              </a:rPr>
              <a:t>Also grounded in: AddHealth peer effects (IZA DP 3859) · Giulietti, Vlassopoulos &amp; Zenou (2020) on peer depression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Data: Smirnov &amp; Thurner (2017), Harvard Dataverse doi:10.7910/DVN/SZA9YW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Model: Calvó-Armengol, Patacchini &amp; Zenou (2009), Review of Economic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