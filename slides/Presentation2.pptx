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o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4297680"/>
            <a:ext cx="2834640" cy="2834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2359152"/>
            <a:ext cx="82296" cy="1417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ECC3841 NETWORK ECONOMICS  ·  PRESENTATION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9180F"/>
                </a:solidFill>
                <a:latin typeface="Georgia"/>
              </a:rPr>
              <a:t>Network Position and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9180F"/>
                </a:solidFill>
                <a:latin typeface="Georgia"/>
              </a:rPr>
              <a:t>Academic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1">
                <a:solidFill>
                  <a:srgbClr val="55503F"/>
                </a:solidFill>
                <a:latin typeface="Calibri"/>
              </a:rPr>
              <a:t>What we found so far — a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5503F"/>
                </a:solidFill>
                <a:latin typeface="Calibri"/>
              </a:rPr>
              <a:t>Amy Bing   ·   Tingying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The plan from last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5503F"/>
                </a:solidFill>
                <a:latin typeface="Calibri"/>
              </a:rPr>
              <a:t>Does a student's position in a friendship network predict their grades, on top of popularity and who their direct friends are? The plan: measure Katz-Bonacich centrality, sweep it across φ, and test it against that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19180F"/>
                </a:solidFill>
                <a:latin typeface="Calibri"/>
              </a:rPr>
              <a:t>Replicate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Confirm the data behaves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the way prior work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83464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3749039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19180F"/>
                </a:solidFill>
                <a:latin typeface="Calibri"/>
              </a:rPr>
              <a:t>Naive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420624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Position alone,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no popularity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83464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749039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19180F"/>
                </a:solidFill>
                <a:latin typeface="Calibri"/>
              </a:rPr>
              <a:t>Planned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20624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Add popularity, sweep φ,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pool all 5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83464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3749039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19180F"/>
                </a:solidFill>
                <a:latin typeface="Calibri"/>
              </a:rPr>
              <a:t>Check +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420624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Test the assumptions.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Found one had failed.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35040"/>
            <a:ext cx="10881360" cy="59436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>This brief reports what running that plan actually found.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The replication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A student's own past GPA strongly predicts their next GPA (coefficient 0.955).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Once that's controlled, a friend's past GPA does not predict your future GPA — not significant (p = 0.557).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New friendships show a smaller GPA gap than friendships about to end, in the university sample (p &lt; 0.001); same direction in high school, not significant.</a:t>
            </a:r>
          </a:p>
        </p:txBody>
      </p:sp>
      <p:pic>
        <p:nvPicPr>
          <p:cNvPr id="6" name="Picture 5" descr="fig_p2_result1_ar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096962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6035040"/>
            <a:ext cx="10881360" cy="59436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Both match Smirnov &amp; Thurner. This is the foundation everything else builds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The naive effect is popularity, relabelled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Katz-Bonacich alone, net of friend GPA: coefficient +0.093, p &lt; 0.001. Looks like position matters.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Add raw in-degree and out-degree to the same regression: the coefficient drops to −0.028, p = 0.446 — no longer significant.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In-degree itself: +0.153, p &lt; 0.001. That's what was driving the naive result.</a:t>
            </a:r>
          </a:p>
        </p:txBody>
      </p:sp>
      <p:pic>
        <p:nvPicPr>
          <p:cNvPr id="6" name="Picture 5" descr="fig_p2_naive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833531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6035040"/>
            <a:ext cx="10881360" cy="59436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The naive effect was popularity wearing a different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The planned test, and a gap we found in it</a:t>
            </a:r>
          </a:p>
        </p:txBody>
      </p:sp>
      <p:pic>
        <p:nvPicPr>
          <p:cNvPr id="5" name="Picture 4" descr="fig_p2_gpa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774" y="1417320"/>
            <a:ext cx="8382147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Own past GPA can only be built for the school group — the other 80% of the pooled sample can't have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COMPARING THE THREE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Three specifications, three different pictures</a:t>
            </a:r>
          </a:p>
        </p:txBody>
      </p:sp>
      <p:pic>
        <p:nvPicPr>
          <p:cNvPr id="5" name="Picture 4" descr="fig_p2_three_spe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37" y="1417320"/>
            <a:ext cx="892062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>The corrected test — the only one with own past GPA properly controlled — finds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Checked across the whole φ range, not just one value</a:t>
            </a:r>
          </a:p>
        </p:txBody>
      </p:sp>
      <p:pic>
        <p:nvPicPr>
          <p:cNvPr id="5" name="Picture 4" descr="fig_p2_phi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996" y="1417320"/>
            <a:ext cx="8293702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7780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>Before the fix, the line swings from significantly positive to significantly negative. After it, it's flat.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What this means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2221992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HEADLINE FINDING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9180F"/>
                </a:solidFill>
                <a:latin typeface="Calibri"/>
              </a:rPr>
              <a:t>Net of popularity, friend GPA, and a student's own past performance, we find no evidence that network position independently predicts grades.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This is the first time this claim has been tested with a real time lag and an own-performance control — a cross-section could never support that.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It shows a general risk: pooling groups with different data structures can manufacture a significant coefficient the correctly specified subsample doesn't support.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19180F"/>
                </a:solidFill>
                <a:latin typeface="Calibri"/>
              </a:rPr>
              <a:t>  •  It's a decision-relevant answer: interventions built around widening students' network reach aren't supported by this data once the obvious confounds are handled.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LIMITATIONS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80F"/>
                </a:solidFill>
                <a:latin typeface="Georgia"/>
              </a:rPr>
              <a:t>Where this is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600">
                <a:solidFill>
                  <a:srgbClr val="19180F"/>
                </a:solidFill>
                <a:latin typeface="Calibri"/>
              </a:rPr>
              <a:t>  •  The corrected test has n = 2,088 from 535 students — a much wider confidence interval than the pooled test's 36,696.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600">
                <a:solidFill>
                  <a:srgbClr val="19180F"/>
                </a:solidFill>
                <a:latin typeface="Calibri"/>
              </a:rPr>
              <a:t>  •  It can't be extended to the university cohorts: their GPA is a single measurement, not a time series.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600">
                <a:solidFill>
                  <a:srgbClr val="19180F"/>
                </a:solidFill>
                <a:latin typeface="Calibri"/>
              </a:rPr>
              <a:t>  •  Betweenness and eigenvector centrality still need to go through the corrected, school-only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55503F"/>
                </a:solidFill>
                <a:latin typeface="Calibri"/>
              </a:rPr>
              <a:t>Next: recompute centrality using only mutually-confirmed ties, shown below.</a:t>
            </a:r>
          </a:p>
        </p:txBody>
      </p:sp>
      <p:pic>
        <p:nvPicPr>
          <p:cNvPr id="7" name="Picture 6" descr="fig_p2_reciprocal_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91" y="4663440"/>
            <a:ext cx="5014912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o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822960"/>
            <a:ext cx="2377440" cy="2377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2404872"/>
            <a:ext cx="82296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19180F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55503F"/>
                </a:solidFill>
                <a:latin typeface="Calibri"/>
              </a:rPr>
              <a:t>Full numbers and setup: research_brief.pdf and progress_brief.pdf.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EB6834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