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015" y="4297680"/>
            <a:ext cx="2834640" cy="2834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359152"/>
            <a:ext cx="82296" cy="1417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5196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 i="1">
                <a:solidFill>
                  <a:srgbClr val="55503F"/>
                </a:solidFill>
                <a:latin typeface="Calibri"/>
              </a:rPr>
              <a:t>What we found so far — a progress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55503F"/>
                </a:solidFill>
                <a:latin typeface="Calibri"/>
              </a:rPr>
              <a:t>Amy Bing   ·   Tingying Huang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WHERE WE LEFT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 from last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Does network position predict grades, beyond popularity and direct friends? Plan: Katz-Bonacich centrality, swept across φ.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Replicate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Confirm the data behaves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the way prior work found.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889504"/>
            <a:ext cx="256032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DDD8CD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Naive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Position alone,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no popularity control.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2889504"/>
            <a:ext cx="256032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DDD8CD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Planned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Add popularity, sweep φ,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pool all 5 groups.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2889504"/>
            <a:ext cx="256032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DDD8CD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26296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Check + 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Test the assumptions.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Found one had failed.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This brief reports what running that plan actually found.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replication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0.955   </a:t>
            </a:r>
            <a:r>
              <a:rPr sz="1400">
                <a:solidFill>
                  <a:srgbClr val="19180F"/>
                </a:solidFill>
                <a:latin typeface="Calibri"/>
              </a:rPr>
              <a:t>own past GPA strongly predicts next GPA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55503F"/>
                </a:solidFill>
                <a:latin typeface="Calibri"/>
              </a:rPr>
              <a:t>  •  p = 0.557   </a:t>
            </a:r>
            <a:r>
              <a:rPr sz="1400">
                <a:solidFill>
                  <a:srgbClr val="19180F"/>
                </a:solidFill>
                <a:latin typeface="Calibri"/>
              </a:rPr>
              <a:t>friend's past GPA — no effect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19180F"/>
                </a:solidFill>
                <a:latin typeface="Calibri"/>
              </a:rPr>
              <a:t>  •  p &lt; 0.001   </a:t>
            </a:r>
            <a:r>
              <a:rPr sz="1400">
                <a:solidFill>
                  <a:srgbClr val="19180F"/>
                </a:solidFill>
                <a:latin typeface="Calibri"/>
              </a:rPr>
              <a:t>new friends more similar than friends about to leave (university; not sig. in school)</a:t>
            </a:r>
          </a:p>
        </p:txBody>
      </p:sp>
      <p:pic>
        <p:nvPicPr>
          <p:cNvPr id="6" name="Picture 5" descr="fig_p2_result1_ar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096962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Both match Smirnov &amp; Thurner. This is the foundation everything else builds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naive effect is popularity, relabelled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+0.093   </a:t>
            </a:r>
            <a:r>
              <a:rPr sz="1400">
                <a:solidFill>
                  <a:srgbClr val="19180F"/>
                </a:solidFill>
                <a:latin typeface="Calibri"/>
              </a:rPr>
              <a:t>Katz alone — looks like position matters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55503F"/>
                </a:solidFill>
                <a:latin typeface="Calibri"/>
              </a:rPr>
              <a:t>  •  −0.028   </a:t>
            </a:r>
            <a:r>
              <a:rPr sz="1400">
                <a:solidFill>
                  <a:srgbClr val="19180F"/>
                </a:solidFill>
                <a:latin typeface="Calibri"/>
              </a:rPr>
              <a:t>add degree control — no longer significant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+0.153   </a:t>
            </a:r>
            <a:r>
              <a:rPr sz="1400">
                <a:solidFill>
                  <a:srgbClr val="19180F"/>
                </a:solidFill>
                <a:latin typeface="Calibri"/>
              </a:rPr>
              <a:t>in-degree alone — this was driving it</a:t>
            </a:r>
          </a:p>
        </p:txBody>
      </p:sp>
      <p:pic>
        <p:nvPicPr>
          <p:cNvPr id="6" name="Picture 5" descr="fig_p2_naive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833531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The naive effect was popularity wearing a different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planned test, and a gap we found in it</a:t>
            </a:r>
          </a:p>
        </p:txBody>
      </p:sp>
      <p:pic>
        <p:nvPicPr>
          <p:cNvPr id="5" name="Picture 4" descr="fig_p2_gpa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74" y="1417320"/>
            <a:ext cx="8382147" cy="39776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94360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Own past GPA only exists for the school group — 80% of the pooled sample can't have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COMPARING THE THREE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Three specifications, three different pictures</a:t>
            </a:r>
          </a:p>
        </p:txBody>
      </p:sp>
      <p:pic>
        <p:nvPicPr>
          <p:cNvPr id="5" name="Picture 4" descr="fig_p2_three_sp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37" y="1417320"/>
            <a:ext cx="8920620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The corrected test — the only one with own past GPA properly controlled — finds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Checked across the whole φ range, not just one value</a:t>
            </a:r>
          </a:p>
        </p:txBody>
      </p:sp>
      <p:pic>
        <p:nvPicPr>
          <p:cNvPr id="5" name="Picture 4" descr="fig_p2_phi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996" y="1417320"/>
            <a:ext cx="8293702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Before the fix, the line swings from significantly positive to significantly negative. After it, it's flat.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What this means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36192"/>
            <a:ext cx="2221992" cy="2926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HEADLINE FINDING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E9F5EC"/>
          </a:solidFill>
          <a:ln w="1778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19180F"/>
                </a:solidFill>
                <a:latin typeface="Calibri"/>
              </a:rPr>
              <a:t>Net of popularity, friend GPA, and a student's own past performance, we find no evidence that network position independently predicts grades.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First real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Time lag + own-performance control — a cross-section couldn't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A general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Pooling mismatched data structures can manufacture a false-positive coefficient.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Decision-relevant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Network-reach interventions aren't supported once confounds are controlled.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LIMITATIONS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Where this is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9180F"/>
                </a:solidFill>
                <a:latin typeface="Calibri"/>
              </a:rPr>
              <a:t>  •  n = 2,088   </a:t>
            </a:r>
            <a:r>
              <a:rPr sz="1500">
                <a:solidFill>
                  <a:srgbClr val="19180F"/>
                </a:solidFill>
                <a:latin typeface="Calibri"/>
              </a:rPr>
              <a:t>535 students — a much wider CI than the pooled 36,696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55503F"/>
                </a:solidFill>
                <a:latin typeface="Calibri"/>
              </a:rPr>
              <a:t>  •  static GPA   </a:t>
            </a:r>
            <a:r>
              <a:rPr sz="1500">
                <a:solidFill>
                  <a:srgbClr val="19180F"/>
                </a:solidFill>
                <a:latin typeface="Calibri"/>
              </a:rPr>
              <a:t>can't extend to university cohorts — no time series there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55503F"/>
                </a:solidFill>
                <a:latin typeface="Calibri"/>
              </a:rPr>
              <a:t>  •  not yet run   </a:t>
            </a:r>
            <a:r>
              <a:rPr sz="1500">
                <a:solidFill>
                  <a:srgbClr val="19180F"/>
                </a:solidFill>
                <a:latin typeface="Calibri"/>
              </a:rPr>
              <a:t>betweenness / eigenvector centrality under the corrected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55503F"/>
                </a:solidFill>
                <a:latin typeface="Calibri"/>
              </a:rPr>
              <a:t>Next: recompute centrality using only mutually-confirmed ties, shown below.</a:t>
            </a:r>
          </a:p>
        </p:txBody>
      </p:sp>
      <p:pic>
        <p:nvPicPr>
          <p:cNvPr id="7" name="Picture 6" descr="fig_p2_reciprocal_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391" y="4663440"/>
            <a:ext cx="5014912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822960"/>
            <a:ext cx="2377440" cy="23774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404872"/>
            <a:ext cx="82296" cy="8686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Full numbers and setup: research_brief.pdf and progress_brief.pdf.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EB6834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