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8"/>
  </p:normalViewPr>
  <p:slideViewPr>
    <p:cSldViewPr snapToGrid="0" snapToObjects="1">
      <p:cViewPr varScale="1">
        <p:scale>
          <a:sx n="112" d="100"/>
          <a:sy n="112" d="100"/>
        </p:scale>
        <p:origin x="60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ec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015" y="4297680"/>
            <a:ext cx="2834640" cy="2834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2359152"/>
            <a:ext cx="82296" cy="1417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ECC3841 NETWORK ECONOMICS  ·  PRESENTATION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Network Position and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Academic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5196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 i="1">
                <a:solidFill>
                  <a:srgbClr val="55503F"/>
                </a:solidFill>
                <a:latin typeface="Calibri"/>
              </a:rPr>
              <a:t>Progress report: an initial result, then a model correction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" y="5074485"/>
            <a:ext cx="8229600" cy="78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en-AU" sz="1300" b="1" i="0" dirty="0">
                <a:solidFill>
                  <a:srgbClr val="55503F"/>
                </a:solidFill>
                <a:latin typeface="Calibri"/>
              </a:rPr>
              <a:t>Group</a:t>
            </a:r>
            <a:r>
              <a:rPr lang="zh-CN" altLang="en-US" sz="1300" b="1" i="0" dirty="0">
                <a:solidFill>
                  <a:srgbClr val="55503F"/>
                </a:solidFill>
                <a:latin typeface="Calibri"/>
              </a:rPr>
              <a:t> </a:t>
            </a:r>
            <a:r>
              <a:rPr lang="en-US" altLang="zh-CN" sz="1300" b="1" i="0" dirty="0">
                <a:solidFill>
                  <a:srgbClr val="55503F"/>
                </a:solidFill>
                <a:latin typeface="Calibri"/>
              </a:rPr>
              <a:t>member</a:t>
            </a:r>
            <a:r>
              <a:rPr lang="zh-CN" altLang="en-US" sz="1300" b="1" i="0" dirty="0">
                <a:solidFill>
                  <a:srgbClr val="55503F"/>
                </a:solidFill>
                <a:latin typeface="Calibri"/>
              </a:rPr>
              <a:t>：</a:t>
            </a:r>
            <a:endParaRPr lang="en-AU" sz="1300" b="1" i="0" dirty="0">
              <a:solidFill>
                <a:srgbClr val="55503F"/>
              </a:solidFill>
              <a:latin typeface="Calibri"/>
            </a:endParaRPr>
          </a:p>
          <a:p>
            <a:pPr algn="l">
              <a:lnSpc>
                <a:spcPct val="118000"/>
              </a:lnSpc>
            </a:pPr>
            <a:r>
              <a:rPr sz="1300" b="0" i="0" dirty="0">
                <a:solidFill>
                  <a:srgbClr val="55503F"/>
                </a:solidFill>
                <a:latin typeface="Calibri"/>
              </a:rPr>
              <a:t>Amy Bing  </a:t>
            </a:r>
            <a:endParaRPr lang="en-AU" sz="1300" dirty="0">
              <a:solidFill>
                <a:srgbClr val="55503F"/>
              </a:solidFill>
              <a:latin typeface="Calibri"/>
            </a:endParaRPr>
          </a:p>
          <a:p>
            <a:pPr algn="l">
              <a:lnSpc>
                <a:spcPct val="118000"/>
              </a:lnSpc>
            </a:pPr>
            <a:r>
              <a:rPr sz="1300" b="0" i="0" dirty="0">
                <a:solidFill>
                  <a:srgbClr val="55503F"/>
                </a:solidFill>
                <a:latin typeface="Calibri"/>
              </a:rPr>
              <a:t>Tingying Huang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RESEARCH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How the analysis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5503F"/>
                </a:solidFill>
                <a:latin typeface="Calibri"/>
              </a:rPr>
              <a:t>Our question remains: does outgoing network reach predict later grades beyond prior GPA and direct contacts? The important progress was discovering which data can answer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Replicate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Confirm known GPA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and tie patterns.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Initial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Estimate a pooled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Katz--GPA association.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Audit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Check time order and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what each cohort records.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26296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6296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Corrected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296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Use the school panel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with prior GPA.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>The presentation reports the correction as part of the research process.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replication 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2E9E5B"/>
                </a:solidFill>
                <a:latin typeface="Calibri"/>
              </a:rPr>
              <a:t>  •  0.955   </a:t>
            </a:r>
            <a:r>
              <a:rPr sz="1400">
                <a:solidFill>
                  <a:srgbClr val="19180F"/>
                </a:solidFill>
                <a:latin typeface="Calibri"/>
              </a:rPr>
              <a:t>own past GPA strongly predicts next GPA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55503F"/>
                </a:solidFill>
                <a:latin typeface="Calibri"/>
              </a:rPr>
              <a:t>  •  p = 0.557   </a:t>
            </a:r>
            <a:r>
              <a:rPr sz="1400">
                <a:solidFill>
                  <a:srgbClr val="19180F"/>
                </a:solidFill>
                <a:latin typeface="Calibri"/>
              </a:rPr>
              <a:t>friend's past GPA — no effect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19180F"/>
                </a:solidFill>
                <a:latin typeface="Calibri"/>
              </a:rPr>
              <a:t>  •  p &lt; 0.001   </a:t>
            </a:r>
            <a:r>
              <a:rPr sz="1400">
                <a:solidFill>
                  <a:srgbClr val="19180F"/>
                </a:solidFill>
                <a:latin typeface="Calibri"/>
              </a:rPr>
              <a:t>new friends more similar than friends about to leave (university; not sig. in school)</a:t>
            </a:r>
          </a:p>
        </p:txBody>
      </p:sp>
      <p:pic>
        <p:nvPicPr>
          <p:cNvPr id="6" name="Picture 5" descr="fig_p2_result1_ar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096962" cy="3794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Both match Smirnov &amp; Thurner. This is the foundation everything else builds 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INITIAL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first pooled result looked significant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2E9E5B"/>
                </a:solidFill>
                <a:latin typeface="Calibri"/>
              </a:rPr>
              <a:t>  •  +0.089   </a:t>
            </a:r>
            <a:r>
              <a:rPr sz="1400">
                <a:solidFill>
                  <a:srgbClr val="19180F"/>
                </a:solidFill>
                <a:latin typeface="Calibri"/>
              </a:rPr>
              <a:t>Katz alone: a positive pooled GPA association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55503F"/>
                </a:solidFill>
                <a:latin typeface="Calibri"/>
              </a:rPr>
              <a:t>  •  +0.012   </a:t>
            </a:r>
            <a:r>
              <a:rPr sz="1400">
                <a:solidFill>
                  <a:srgbClr val="19180F"/>
                </a:solidFill>
                <a:latin typeface="Calibri"/>
              </a:rPr>
              <a:t>after direct-degree controls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500" b="1">
                <a:solidFill>
                  <a:srgbClr val="55503F"/>
                </a:solidFill>
                <a:latin typeface="Calibri"/>
              </a:rPr>
              <a:t>  •  p = 0.760   </a:t>
            </a:r>
            <a:r>
              <a:rPr sz="1400">
                <a:solidFill>
                  <a:srgbClr val="19180F"/>
                </a:solidFill>
                <a:latin typeface="Calibri"/>
              </a:rPr>
              <a:t>the adjusted Katz estimate is not significant</a:t>
            </a:r>
          </a:p>
        </p:txBody>
      </p:sp>
      <p:pic>
        <p:nvPicPr>
          <p:cNvPr id="6" name="Picture 5" descr="fig_p2_naive_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988606" cy="3794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This was a useful signal, but it was not yet a valid test of later academic 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MODEL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pooled university comparison cannot identify a later-GPA effect</a:t>
            </a:r>
          </a:p>
        </p:txBody>
      </p:sp>
      <p:pic>
        <p:nvPicPr>
          <p:cNvPr id="5" name="Picture 4" descr="fig_p2_gpa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74" y="1417320"/>
            <a:ext cx="8382147" cy="39776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94360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University GPA is static: it cannot control baseline achievement or establish time order. Only school GPA repeats over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CORRECTED PRIMARY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After correcting the model, the effect is no longer significant</a:t>
            </a:r>
          </a:p>
        </p:txBody>
      </p:sp>
      <p:pic>
        <p:nvPicPr>
          <p:cNvPr id="5" name="Picture 4" descr="fig_p2_three_spe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769" y="1417320"/>
            <a:ext cx="8702156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80644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>School panel model: later GPA on prior GPA, outgoing Katz, direct links, contact GPA, and time effects. Katz = +0.009, p = 0.139.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school result remains non-significant across the φ range</a:t>
            </a:r>
          </a:p>
        </p:txBody>
      </p:sp>
      <p:pic>
        <p:nvPicPr>
          <p:cNvPr id="5" name="Picture 4" descr="fig_p2_phi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610" y="1417320"/>
            <a:ext cx="8202475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80644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>Pooled results change with φ; the lagged school estimates are positive but never significant.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PRESENTATION 2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What we can conclude at this stage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36192"/>
            <a:ext cx="2221992" cy="29260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HEADLINE FINDING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1005840"/>
          </a:xfrm>
          <a:prstGeom prst="roundRect">
            <a:avLst>
              <a:gd name="adj" fmla="val 8000"/>
            </a:avLst>
          </a:prstGeom>
          <a:solidFill>
            <a:srgbClr val="E9F5EC"/>
          </a:solidFill>
          <a:ln w="1778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700" b="1">
                <a:solidFill>
                  <a:srgbClr val="19180F"/>
                </a:solidFill>
                <a:latin typeface="Calibri"/>
              </a:rPr>
              <a:t>The initial association did not survive the model audit. In the usable longitudinal sample, we find no statistically significant evidence that outgoing network reach predicts later grades.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46120"/>
            <a:ext cx="3429000" cy="594360"/>
          </a:xfrm>
          <a:prstGeom prst="roundRect">
            <a:avLst>
              <a:gd name="adj" fmla="val 8000"/>
            </a:avLst>
          </a:prstGeom>
          <a:solidFill>
            <a:srgbClr val="2E9E5B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t+1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Time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3429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The primary model predicts later GPA from the earlier network.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246120"/>
            <a:ext cx="3429000" cy="594360"/>
          </a:xfrm>
          <a:prstGeom prst="roundRect">
            <a:avLst>
              <a:gd name="adj" fmla="val 8000"/>
            </a:avLst>
          </a:prstGeom>
          <a:solidFill>
            <a:srgbClr val="2E9E5B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977639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389120"/>
            <a:ext cx="3429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The university association remains descriptive, not causal.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3246120"/>
            <a:ext cx="3429000" cy="594360"/>
          </a:xfrm>
          <a:prstGeom prst="roundRect">
            <a:avLst>
              <a:gd name="adj" fmla="val 8000"/>
            </a:avLst>
          </a:prstGeom>
          <a:solidFill>
            <a:srgbClr val="2E9E5B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3977639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Next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4389120"/>
            <a:ext cx="3429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We will analyse incentives and mechanisms before making recommendations.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PRESENTATION 3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Questions reserved for the final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19180F"/>
                </a:solidFill>
                <a:latin typeface="Calibri"/>
              </a:rPr>
              <a:t>  •  Mechanism   </a:t>
            </a:r>
            <a:r>
              <a:rPr sz="1500">
                <a:solidFill>
                  <a:srgbClr val="19180F"/>
                </a:solidFill>
                <a:latin typeface="Calibri"/>
              </a:rPr>
              <a:t>Why might students form academically useful links, and when would indirect reach matter?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55503F"/>
                </a:solidFill>
                <a:latin typeface="Calibri"/>
              </a:rPr>
              <a:t>  •  Incentives   </a:t>
            </a:r>
            <a:r>
              <a:rPr sz="1500">
                <a:solidFill>
                  <a:srgbClr val="19180F"/>
                </a:solidFill>
                <a:latin typeface="Calibri"/>
              </a:rPr>
              <a:t>Use a network-economics model to analyse link formation, information access, and peer effects.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55503F"/>
                </a:solidFill>
                <a:latin typeface="Calibri"/>
              </a:rPr>
              <a:t>  •  Decision   </a:t>
            </a:r>
            <a:r>
              <a:rPr sz="1500">
                <a:solidFill>
                  <a:srgbClr val="19180F"/>
                </a:solidFill>
                <a:latin typeface="Calibri"/>
              </a:rPr>
              <a:t>Translate the final evidence into a cautious recommendation for a non-expert manager.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1">
                <a:solidFill>
                  <a:srgbClr val="55503F"/>
                </a:solidFill>
                <a:latin typeface="Calibri"/>
              </a:rPr>
              <a:t>Before then, the remaining empirical checks are incoming status and reciprocal ties; neither is significant in the current robustness results.</a:t>
            </a:r>
          </a:p>
        </p:txBody>
      </p:sp>
      <p:pic>
        <p:nvPicPr>
          <p:cNvPr id="7" name="Picture 6" descr="fig_p2_reciprocal_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8391" y="4663440"/>
            <a:ext cx="5014912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ec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822960"/>
            <a:ext cx="2377440" cy="23774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2404872"/>
            <a:ext cx="82296" cy="8686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57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55503F"/>
                </a:solidFill>
                <a:latin typeface="Calibri"/>
              </a:rPr>
              <a:t>Presentation 3: network incentives, mechanism, and final recommendation.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EB6834"/>
                </a:solidFill>
                <a:latin typeface="Calibri"/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537</Words>
  <Application>Microsoft Macintosh PowerPoint</Application>
  <PresentationFormat>Widescreen</PresentationFormat>
  <Paragraphs>79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Tingying Huang</cp:lastModifiedBy>
  <cp:revision>2</cp:revision>
  <dcterms:created xsi:type="dcterms:W3CDTF">2013-01-27T09:14:16Z</dcterms:created>
  <dcterms:modified xsi:type="dcterms:W3CDTF">2026-09-23T13:45:30Z</dcterms:modified>
  <cp:category/>
</cp:coreProperties>
</file>